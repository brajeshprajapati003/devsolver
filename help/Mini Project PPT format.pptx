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543" r:id="rId3"/>
    <p:sldId id="257" r:id="rId5"/>
    <p:sldId id="258" r:id="rId6"/>
    <p:sldId id="369" r:id="rId7"/>
    <p:sldId id="467" r:id="rId8"/>
    <p:sldId id="544" r:id="rId9"/>
    <p:sldId id="546" r:id="rId10"/>
    <p:sldId id="305" r:id="rId11"/>
    <p:sldId id="545" r:id="rId12"/>
    <p:sldId id="324" r:id="rId13"/>
    <p:sldId id="306" r:id="rId14"/>
    <p:sldId id="537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893" autoAdjust="0"/>
  </p:normalViewPr>
  <p:slideViewPr>
    <p:cSldViewPr showGuides="1">
      <p:cViewPr varScale="1">
        <p:scale>
          <a:sx n="69" d="100"/>
          <a:sy n="69" d="100"/>
        </p:scale>
        <p:origin x="-546" y="2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none" lIns="91440" tIns="45720" rIns="91440" bIns="45720" numCol="1" anchor="b" anchorCtr="1" compatLnSpc="1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692465B9-2A7A-4DBF-B7D3-21165072B2D9}" type="slidenum">
              <a:rPr lang="en-IN" altLang="en-US"/>
            </a:fld>
            <a:endParaRPr lang="en-IN" altLang="en-US">
              <a:latin typeface="Franklin Gothic Book" panose="020B05030201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A6C37A5-A14E-4511-8C4C-1E1A4B011F3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8435" name="Notes Placeholder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/>
          <a:lstStyle/>
          <a:p>
            <a:endParaRPr lang="en-IN" altLang="en-US"/>
          </a:p>
        </p:txBody>
      </p:sp>
      <p:sp>
        <p:nvSpPr>
          <p:cNvPr id="18436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fld id="{D64C85A2-FE4F-4041-B7A9-9CB734C95B1F}" type="slidenum">
              <a:rPr lang="en-US" altLang="en-US" sz="1800"/>
            </a:fld>
            <a:endParaRPr lang="en-US" altLang="en-US" sz="1800"/>
          </a:p>
        </p:txBody>
      </p:sp>
      <p:sp>
        <p:nvSpPr>
          <p:cNvPr id="18437" name="Header Placeholder 4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 useBgFill="1">
        <p:nvSpPr>
          <p:cNvPr id="5" name="Rounded Rectangle 10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noProof="1"/>
              <a:t>Click to edit Master subtitle style</a:t>
            </a:r>
            <a:endParaRPr lang="en-US" noProof="1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1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0302E-359B-4AD2-A8EC-6C22FAD7F0A2}" type="datetime1">
              <a:rPr lang="en-US" altLang="zh-CN"/>
            </a:fld>
            <a:endParaRPr lang="en-US" altLang="zh-CN"/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A7CD06-ED02-4840-90BA-88B38B5D1A2B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4824C7-4D4A-4CDA-BAF7-69653A906BE5}" type="datetime1">
              <a:rPr lang="en-US" altLang="zh-CN"/>
            </a:fld>
            <a:endParaRPr lang="en-US" altLang="zh-C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68FF48-E6AE-4C9D-B33E-31190B90A3A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 useBgFill="1">
        <p:nvSpPr>
          <p:cNvPr id="5" name="Rounded Rectangle 10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F3B81-39F1-40BD-8D69-732D57331D14}" type="datetime1">
              <a:rPr lang="en-US" altLang="zh-CN"/>
            </a:fld>
            <a:endParaRPr lang="en-US" altLang="zh-CN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fld id="{5DF43C4C-482F-4F24-9CBF-78D4945912D4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52E67-7941-4C23-A38A-7B911E7328E4}" type="datetime1">
              <a:rPr lang="en-US" altLang="zh-CN"/>
            </a:fld>
            <a:endParaRPr lang="en-US" altLang="zh-CN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6CC308-4C04-4219-80C4-160889C266C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C9BA8-0214-48BC-9442-93100B18D9BD}" type="datetime1">
              <a:rPr lang="en-US" altLang="zh-CN"/>
            </a:fld>
            <a:endParaRPr lang="en-US" altLang="zh-CN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D9DBA1-18F6-41BC-B0CB-445D2F4A1F8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C7C192-73F7-4D61-82F5-9D5D6413EEDC}" type="datetime1">
              <a:rPr lang="en-US" altLang="zh-CN"/>
            </a:fld>
            <a:endParaRPr lang="en-US" altLang="zh-CN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54F688-50C5-4983-9DD5-8FAD6E09921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3A884D-2767-462A-9A46-6D306C261BE2}" type="datetime1">
              <a:rPr lang="en-US" altLang="zh-CN"/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80E94B-EFD5-4043-B703-7F763F12782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 useBgFill="1">
        <p:nvSpPr>
          <p:cNvPr id="6" name="Rounded Rectangle 10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C5A770-805F-41A6-86B4-B61FEC6B4D86}" type="datetime1">
              <a:rPr lang="en-US" altLang="zh-CN"/>
            </a:fld>
            <a:endParaRPr lang="en-US" altLang="zh-CN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6A3A3E-C8DE-4A85-8078-0C797F3A09C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02788-E5F9-46DB-B899-7A60D9C9868B}" type="datetime1">
              <a:rPr lang="en-US" altLang="zh-CN"/>
            </a:fld>
            <a:endParaRPr lang="en-US" altLang="zh-CN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fld id="{2FAAA208-AEB6-4390-A54D-A482BBB27F8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7D4C2A-5DAB-45C1-8636-A7CAEB34B8F4}" type="datetime1">
              <a:rPr lang="en-US" altLang="zh-CN"/>
            </a:fld>
            <a:endParaRPr lang="en-US" altLang="zh-C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803300-6450-4760-BBA5-ACF12F56FDD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DF627-7675-4E79-83A9-A73E68A687CC}" type="datetime1">
              <a:rPr lang="en-US" altLang="zh-CN"/>
            </a:fld>
            <a:endParaRPr lang="en-US" altLang="zh-C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098D55-E44E-4E2E-8AE8-74260DF7619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zh-CN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1028" name="Title Placeholder 2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9" name="Text Placeholder 12"/>
          <p:cNvSpPr>
            <a:spLocks noGrp="1" noChangeArrowheads="1"/>
          </p:cNvSpPr>
          <p:nvPr>
            <p:ph type="body" idx="9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615D191-5F75-486E-B7AA-F06AC042E58A}" type="datetime1">
              <a:rPr lang="en-US" altLang="zh-CN"/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Perpetua" panose="02020502060401020303" pitchFamily="18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FEA2B34D-97E9-4B84-BDC6-61BE02310A5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AABBDF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0BD0D9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0BD0D9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square" anchorCtr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fld id="{3507E2AD-551D-400A-9B76-03E9E64EE83F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6147" name="Title 1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2133600"/>
            <a:ext cx="9144000" cy="609600"/>
          </a:xfrm>
        </p:spPr>
        <p:txBody>
          <a:bodyPr/>
          <a:lstStyle/>
          <a:p>
            <a:pPr algn="ctr" eaLnBrk="1" hangingPunct="1"/>
            <a:r>
              <a:rPr lang="en-US" altLang="en-US" sz="2800" dirty="0">
                <a:solidFill>
                  <a:srgbClr val="FF0000"/>
                </a:solidFill>
                <a:latin typeface="Times" panose="02020603050405020304" pitchFamily="18" charset="0"/>
              </a:rPr>
              <a:t>“</a:t>
            </a:r>
            <a:r>
              <a:rPr lang="en-IN" altLang="en-GB" sz="2800" b="1" dirty="0">
                <a:solidFill>
                  <a:srgbClr val="FF0000"/>
                </a:solidFill>
                <a:latin typeface="Times" panose="02020603050405020304" pitchFamily="18" charset="0"/>
              </a:rPr>
              <a:t>DevSolver</a:t>
            </a:r>
            <a:r>
              <a:rPr lang="en-US" altLang="en-US" sz="2800" dirty="0">
                <a:solidFill>
                  <a:srgbClr val="FF0000"/>
                </a:solidFill>
                <a:latin typeface="Times" panose="02020603050405020304" pitchFamily="18" charset="0"/>
              </a:rPr>
              <a:t>”</a:t>
            </a:r>
            <a:endParaRPr lang="en-US" altLang="en-US" sz="280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149" name="TextBox 3"/>
          <p:cNvSpPr txBox="1">
            <a:spLocks noChangeArrowheads="1"/>
          </p:cNvSpPr>
          <p:nvPr/>
        </p:nvSpPr>
        <p:spPr bwMode="auto">
          <a:xfrm>
            <a:off x="3352800" y="4419600"/>
            <a:ext cx="259080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1600" b="1" dirty="0" smtClean="0">
              <a:latin typeface="Times New Roman" panose="0202060305040502030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600" b="1" dirty="0" smtClean="0">
                <a:latin typeface="Times New Roman" panose="02020603050405020304" charset="0"/>
              </a:rPr>
              <a:t>Prof</a:t>
            </a:r>
            <a:r>
              <a:rPr lang="en-US" altLang="en-US" sz="1600" b="1" dirty="0">
                <a:latin typeface="Times New Roman" panose="02020603050405020304" charset="0"/>
              </a:rPr>
              <a:t>. </a:t>
            </a:r>
            <a:endParaRPr lang="en-US" altLang="en-US" sz="1600" dirty="0">
              <a:latin typeface="Times New Roman" panose="0202060305040502030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600" b="1" dirty="0" smtClean="0">
                <a:latin typeface="Times New Roman" panose="02020603050405020304" charset="0"/>
              </a:rPr>
              <a:t>Project Guide</a:t>
            </a:r>
            <a:endParaRPr lang="en-US" altLang="en-US" sz="1600" b="1" dirty="0" smtClean="0">
              <a:latin typeface="Times New Roman" panose="0202060305040502030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600" b="1" dirty="0" smtClean="0">
                <a:latin typeface="Times New Roman" panose="02020603050405020304" charset="0"/>
              </a:rPr>
              <a:t>Asst</a:t>
            </a:r>
            <a:r>
              <a:rPr lang="en-US" altLang="en-US" sz="1600" b="1" dirty="0">
                <a:latin typeface="Times New Roman" panose="02020603050405020304" charset="0"/>
              </a:rPr>
              <a:t>. Professor, </a:t>
            </a:r>
            <a:r>
              <a:rPr lang="en-US" altLang="en-US" sz="1600" b="1" dirty="0" smtClean="0">
                <a:latin typeface="Times New Roman" panose="02020603050405020304" charset="0"/>
              </a:rPr>
              <a:t>CSE</a:t>
            </a:r>
            <a:endParaRPr lang="en-US" altLang="en-US" sz="1600" dirty="0">
              <a:latin typeface="Times New Roman" panose="0202060305040502030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1600" dirty="0">
              <a:latin typeface="Constantia" panose="02030602050306030303" pitchFamily="18" charset="0"/>
            </a:endParaRPr>
          </a:p>
        </p:txBody>
      </p:sp>
      <p:sp>
        <p:nvSpPr>
          <p:cNvPr id="6150" name="TextBox 5"/>
          <p:cNvSpPr txBox="1">
            <a:spLocks noChangeArrowheads="1"/>
          </p:cNvSpPr>
          <p:nvPr/>
        </p:nvSpPr>
        <p:spPr bwMode="auto">
          <a:xfrm>
            <a:off x="6096000" y="4267200"/>
            <a:ext cx="2819400" cy="181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1600" b="1" dirty="0" smtClean="0">
              <a:latin typeface="Times New Roman" panose="0202060305040502030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600" b="1" dirty="0" smtClean="0">
                <a:latin typeface="Times New Roman" panose="02020603050405020304" charset="0"/>
              </a:rPr>
              <a:t>Project Group Member</a:t>
            </a:r>
            <a:endParaRPr lang="en-US" altLang="en-US" sz="1600" b="1" dirty="0">
              <a:latin typeface="Times New Roman" panose="0202060305040502030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600" b="1" dirty="0" smtClean="0"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en-IN" altLang="en-US" sz="1600" b="1" dirty="0" smtClean="0">
                <a:latin typeface="Times New Roman" panose="02020603050405020304" charset="0"/>
                <a:cs typeface="Times New Roman" panose="02020603050405020304" charset="0"/>
              </a:rPr>
              <a:t>Brajesh Prajapati</a:t>
            </a:r>
            <a:endParaRPr lang="en-US" altLang="en-US" sz="16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en-US" sz="1600" b="1" dirty="0" smtClean="0">
                <a:latin typeface="Times New Roman" panose="02020603050405020304" charset="0"/>
                <a:cs typeface="Times New Roman" panose="02020603050405020304" charset="0"/>
              </a:rPr>
              <a:t>.</a:t>
            </a:r>
            <a:r>
              <a:rPr lang="en-IN" altLang="en-US" sz="1600" b="1" dirty="0" smtClean="0">
                <a:latin typeface="Times New Roman" panose="02020603050405020304" charset="0"/>
                <a:cs typeface="Times New Roman" panose="02020603050405020304" charset="0"/>
              </a:rPr>
              <a:t> Ankit Kumar Singh</a:t>
            </a:r>
            <a:endParaRPr lang="en-US" altLang="en-US" sz="16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en-US" altLang="en-US" sz="1600" b="1" dirty="0" smtClean="0">
                <a:latin typeface="Times New Roman" panose="02020603050405020304" charset="0"/>
                <a:cs typeface="Times New Roman" panose="02020603050405020304" charset="0"/>
              </a:rPr>
              <a:t>.</a:t>
            </a:r>
            <a:r>
              <a:rPr lang="en-IN" altLang="en-US" sz="1600" b="1" dirty="0" smtClean="0">
                <a:latin typeface="Times New Roman" panose="02020603050405020304" charset="0"/>
                <a:cs typeface="Times New Roman" panose="02020603050405020304" charset="0"/>
              </a:rPr>
              <a:t> Gajendra Ahirwar</a:t>
            </a:r>
            <a:endParaRPr lang="en-US" altLang="en-US" sz="1600" b="1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600" b="1" dirty="0" smtClean="0">
                <a:latin typeface="Times New Roman" panose="02020603050405020304" charset="0"/>
                <a:cs typeface="Times New Roman" panose="02020603050405020304" charset="0"/>
              </a:rPr>
              <a:t>4. </a:t>
            </a:r>
            <a:r>
              <a:rPr lang="en-IN" altLang="en-US" sz="1600" b="1" dirty="0" smtClean="0">
                <a:latin typeface="Times New Roman" panose="02020603050405020304" charset="0"/>
                <a:cs typeface="Times New Roman" panose="02020603050405020304" charset="0"/>
              </a:rPr>
              <a:t>Boby Yadav</a:t>
            </a:r>
            <a:endParaRPr lang="en-IN" altLang="en-US" sz="1600" b="1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IN" altLang="en-US" sz="1600" b="1" dirty="0" smtClean="0">
                <a:latin typeface="Times New Roman" panose="02020603050405020304" charset="0"/>
                <a:cs typeface="Times New Roman" panose="02020603050405020304" charset="0"/>
              </a:rPr>
              <a:t>5. Divyansh Rathore</a:t>
            </a:r>
            <a:endParaRPr lang="en-IN" altLang="en-US" sz="1600" b="1" dirty="0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51" name="Rectangle 8"/>
          <p:cNvSpPr>
            <a:spLocks noChangeArrowheads="1"/>
          </p:cNvSpPr>
          <p:nvPr/>
        </p:nvSpPr>
        <p:spPr bwMode="auto">
          <a:xfrm>
            <a:off x="1676400" y="3429000"/>
            <a:ext cx="609600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IN" altLang="en-US" sz="2000" b="1" dirty="0" smtClean="0">
                <a:latin typeface="Times New Roman" panose="02020603050405020304" charset="0"/>
                <a:cs typeface="Times New Roman" panose="02020603050405020304" charset="0"/>
              </a:rPr>
              <a:t>Session Jan-June 2026</a:t>
            </a:r>
            <a:endParaRPr lang="en-IN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52" name="Slide Number Placeholder 3"/>
          <p:cNvSpPr txBox="1">
            <a:spLocks noGrp="1" noChangeArrowheads="1"/>
          </p:cNvSpPr>
          <p:nvPr/>
        </p:nvSpPr>
        <p:spPr bwMode="auto">
          <a:xfrm>
            <a:off x="8229600" y="641667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5E25DEF9-089B-48C2-B6BF-DCDF51CCBF36}" type="slidenum">
              <a:rPr lang="en-US" altLang="en-US" sz="1200">
                <a:solidFill>
                  <a:srgbClr val="424242"/>
                </a:solidFill>
                <a:latin typeface="Constantia" panose="02030602050306030303" pitchFamily="18" charset="0"/>
              </a:rPr>
            </a:fld>
            <a:endParaRPr lang="en-US" altLang="en-US" sz="1200">
              <a:solidFill>
                <a:srgbClr val="424242"/>
              </a:solidFill>
              <a:latin typeface="Constantia" panose="02030602050306030303" pitchFamily="18" charset="0"/>
            </a:endParaRPr>
          </a:p>
        </p:txBody>
      </p:sp>
      <p:sp>
        <p:nvSpPr>
          <p:cNvPr id="6154" name="TextBox 5"/>
          <p:cNvSpPr txBox="1">
            <a:spLocks noChangeArrowheads="1"/>
          </p:cNvSpPr>
          <p:nvPr/>
        </p:nvSpPr>
        <p:spPr bwMode="auto">
          <a:xfrm>
            <a:off x="304800" y="4724400"/>
            <a:ext cx="25908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1600" b="1" dirty="0" smtClean="0">
              <a:latin typeface="Times New Roman" panose="0202060305040502030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600" b="1" dirty="0" smtClean="0">
                <a:latin typeface="Times New Roman" panose="02020603050405020304" charset="0"/>
              </a:rPr>
              <a:t>Dr </a:t>
            </a:r>
            <a:r>
              <a:rPr lang="en-IN" altLang="en-US" sz="1600" b="1" dirty="0" smtClean="0">
                <a:latin typeface="Times New Roman" panose="02020603050405020304" charset="0"/>
              </a:rPr>
              <a:t>Kailash Patidar</a:t>
            </a:r>
            <a:endParaRPr lang="en-US" altLang="en-US" sz="1600" b="1" dirty="0" smtClean="0">
              <a:latin typeface="Times New Roman" panose="0202060305040502030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600" b="1" dirty="0" smtClean="0">
                <a:latin typeface="Times New Roman" panose="02020603050405020304" charset="0"/>
              </a:rPr>
              <a:t>Professor and  Head, CSE</a:t>
            </a:r>
            <a:endParaRPr lang="en-US" altLang="en-US" sz="1600" dirty="0">
              <a:latin typeface="Times New Roman" panose="02020603050405020304" charset="0"/>
            </a:endParaRPr>
          </a:p>
        </p:txBody>
      </p:sp>
      <p:pic>
        <p:nvPicPr>
          <p:cNvPr id="15" name="Picture 14" descr="BIST Bhopal - Info, Ranking, Courses, Fees, Cutoff &amp; Placements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066800"/>
            <a:ext cx="9906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Download BGI Bhopal Free for Android - BGI Bhopal APK Download -  STEPrimo.com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9144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43000" y="914400"/>
            <a:ext cx="7010400" cy="983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latin typeface="Times New Roman" panose="02020603050405020304" charset="0"/>
                <a:cs typeface="Times New Roman" panose="02020603050405020304" charset="0"/>
              </a:rPr>
              <a:t>BANSAL INSTITUTE OF SCIENCE &amp; TECHNOLOGY, BHOPAL</a:t>
            </a:r>
            <a:endParaRPr lang="en-US" sz="2000" b="1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b="1" dirty="0" smtClean="0">
                <a:latin typeface="Times New Roman" panose="02020603050405020304" charset="0"/>
                <a:cs typeface="Times New Roman" panose="02020603050405020304" charset="0"/>
              </a:rPr>
              <a:t>DEPARTMENT OF </a:t>
            </a:r>
            <a:r>
              <a:rPr lang="en-IN" altLang="en-US" b="1" dirty="0" smtClean="0">
                <a:latin typeface="Times New Roman" panose="02020603050405020304" charset="0"/>
                <a:cs typeface="Times New Roman" panose="02020603050405020304" charset="0"/>
              </a:rPr>
              <a:t>COMPUTER SCIENCE &amp;</a:t>
            </a:r>
            <a:r>
              <a:rPr lang="en-US" b="1" dirty="0" smtClean="0">
                <a:latin typeface="Times New Roman" panose="02020603050405020304" charset="0"/>
                <a:cs typeface="Times New Roman" panose="02020603050405020304" charset="0"/>
              </a:rPr>
              <a:t> ENGINEERING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1143000"/>
          </a:xfrm>
        </p:spPr>
        <p:txBody>
          <a:bodyPr anchor="t"/>
          <a:lstStyle/>
          <a:p>
            <a:pPr eaLnBrk="1" hangingPunct="1">
              <a:defRPr/>
            </a:pPr>
            <a:r>
              <a:rPr lang="en-US" sz="3600" u="sng" dirty="0" smtClean="0">
                <a:latin typeface="+mn-lt"/>
                <a:cs typeface="Times New Roman" panose="02020603050405020304" charset="0"/>
              </a:rPr>
              <a:t>CONTENT</a:t>
            </a:r>
            <a:endParaRPr lang="en-US" sz="3600" u="sng" dirty="0">
              <a:latin typeface="+mn-lt"/>
              <a:cs typeface="Times New Roman" panose="02020603050405020304" charset="0"/>
            </a:endParaRPr>
          </a:p>
        </p:txBody>
      </p:sp>
      <p:sp>
        <p:nvSpPr>
          <p:cNvPr id="7171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457200" y="914400"/>
            <a:ext cx="8229600" cy="5334000"/>
          </a:xfrm>
        </p:spPr>
        <p:txBody>
          <a:bodyPr/>
          <a:lstStyle/>
          <a:p>
            <a:pPr marL="514350" indent="-514350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Abstract</a:t>
            </a:r>
            <a:endParaRPr lang="en-US" altLang="en-US" sz="24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400" dirty="0" smtClean="0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en-US" sz="24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400" dirty="0" smtClean="0">
                <a:latin typeface="Times New Roman" panose="02020603050405020304" charset="0"/>
                <a:cs typeface="Times New Roman" panose="02020603050405020304" charset="0"/>
              </a:rPr>
              <a:t>Existing Systems/Related Work (Literature Survey)</a:t>
            </a:r>
            <a:endParaRPr lang="en-US" altLang="en-US" sz="24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400" dirty="0" smtClean="0">
                <a:latin typeface="Times New Roman" panose="02020603050405020304" charset="0"/>
                <a:cs typeface="Times New Roman" panose="02020603050405020304" charset="0"/>
              </a:rPr>
              <a:t>Methodology/Approach/Flow</a:t>
            </a:r>
            <a:endParaRPr lang="en-US" altLang="en-US" sz="24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400" dirty="0" smtClean="0">
                <a:latin typeface="Times New Roman" panose="02020603050405020304" charset="0"/>
                <a:cs typeface="Times New Roman" panose="02020603050405020304" charset="0"/>
              </a:rPr>
              <a:t>Proposed System/Objectives</a:t>
            </a:r>
            <a:endParaRPr lang="en-US" altLang="en-US" sz="24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400" dirty="0" smtClean="0">
                <a:latin typeface="Times New Roman" panose="02020603050405020304" charset="0"/>
                <a:cs typeface="Times New Roman" panose="02020603050405020304" charset="0"/>
              </a:rPr>
              <a:t>Technology Stack (H/W &amp; S/W Requirement)/Tool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Conclusion </a:t>
            </a:r>
            <a:endParaRPr lang="en-US" altLang="en-US" sz="2400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Future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Scope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7F4EA6E-6A90-4AE2-BECF-6F56DB1C3FBD}" type="slidenum">
              <a:rPr lang="en-US" altLang="zh-CN">
                <a:solidFill>
                  <a:srgbClr val="FFFFFF"/>
                </a:solidFill>
                <a:latin typeface="Franklin Gothic Book" panose="020B0503020102020204" pitchFamily="34" charset="0"/>
              </a:rPr>
            </a:fld>
            <a:endParaRPr lang="en-US" altLang="zh-CN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772400" cy="990600"/>
          </a:xfrm>
        </p:spPr>
        <p:txBody>
          <a:bodyPr anchor="t"/>
          <a:lstStyle/>
          <a:p>
            <a:pPr eaLnBrk="1" hangingPunct="1"/>
            <a:r>
              <a:rPr lang="en-US" altLang="en-US" sz="3600" dirty="0" smtClean="0">
                <a:latin typeface="Times New Roman" panose="02020603050405020304" charset="0"/>
              </a:rPr>
              <a:t>ABSTRACT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195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262890" y="1219200"/>
            <a:ext cx="8640445" cy="4699000"/>
          </a:xfrm>
        </p:spPr>
        <p:txBody>
          <a:bodyPr/>
          <a:lstStyle/>
          <a:p>
            <a:pPr algn="just"/>
            <a:r>
              <a:rPr lang="en-US" altLang="en-GB" sz="1800" dirty="0">
                <a:latin typeface="Times New Roman" panose="02020603050405020304" charset="0"/>
                <a:cs typeface="Times New Roman" panose="02020603050405020304" charset="0"/>
              </a:rPr>
              <a:t>DevSolver is a web-based, developer-centric platform.</a:t>
            </a:r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GB" sz="1800" dirty="0">
                <a:latin typeface="Times New Roman" panose="02020603050405020304" charset="0"/>
                <a:cs typeface="Times New Roman" panose="02020603050405020304" charset="0"/>
              </a:rPr>
              <a:t>It helps programmers share, manage, and learn from real-world technical problem-solving experiences.</a:t>
            </a:r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GB" sz="1800" dirty="0">
                <a:latin typeface="Times New Roman" panose="02020603050405020304" charset="0"/>
                <a:cs typeface="Times New Roman" panose="02020603050405020304" charset="0"/>
              </a:rPr>
              <a:t>The platform focuses on structured blog-style solutions instead of short Q&amp;A answers.</a:t>
            </a:r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GB" sz="1800" dirty="0">
                <a:latin typeface="Times New Roman" panose="02020603050405020304" charset="0"/>
                <a:cs typeface="Times New Roman" panose="02020603050405020304" charset="0"/>
              </a:rPr>
              <a:t>Users can create and manage technical blogs.</a:t>
            </a:r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GB" sz="1800" dirty="0">
                <a:latin typeface="Times New Roman" panose="02020603050405020304" charset="0"/>
                <a:cs typeface="Times New Roman" panose="02020603050405020304" charset="0"/>
              </a:rPr>
              <a:t>Administrators can moderate content and manage tags and users.</a:t>
            </a:r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GB" sz="1800" dirty="0">
                <a:latin typeface="Times New Roman" panose="02020603050405020304" charset="0"/>
                <a:cs typeface="Times New Roman" panose="02020603050405020304" charset="0"/>
              </a:rPr>
              <a:t>DevSolver enables community interaction and collaborative learning.</a:t>
            </a:r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1B8BD58-DC87-4879-B7F1-8E3ABE9F27FA}" type="slidenum">
              <a:rPr lang="en-US" altLang="zh-CN">
                <a:solidFill>
                  <a:srgbClr val="FFFFFF"/>
                </a:solidFill>
                <a:latin typeface="Franklin Gothic Book" panose="020B0503020102020204" pitchFamily="34" charset="0"/>
              </a:rPr>
            </a:fld>
            <a:endParaRPr lang="en-US" altLang="zh-CN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371600"/>
            <a:ext cx="8458200" cy="4373245"/>
          </a:xfrm>
        </p:spPr>
        <p:txBody>
          <a:bodyPr/>
          <a:lstStyle/>
          <a:p>
            <a:pPr algn="just" eaLnBrk="1" hangingPunct="1"/>
            <a:r>
              <a:rPr lang="en-US" altLang="en-GB" sz="1800" dirty="0">
                <a:latin typeface="Times New Roman" panose="02020603050405020304" charset="0"/>
                <a:cs typeface="Times New Roman" panose="02020603050405020304" charset="0"/>
              </a:rPr>
              <a:t>Developers frequently face complex technical challenges requiring practical solutions.</a:t>
            </a:r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/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/>
            <a:r>
              <a:rPr lang="en-US" altLang="en-GB" sz="1800" dirty="0">
                <a:latin typeface="Times New Roman" panose="02020603050405020304" charset="0"/>
                <a:cs typeface="Times New Roman" panose="02020603050405020304" charset="0"/>
              </a:rPr>
              <a:t>Existing platforms often provide short or poorly structured answers.</a:t>
            </a:r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/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/>
            <a:r>
              <a:rPr lang="en-US" altLang="en-GB" sz="1800" dirty="0">
                <a:latin typeface="Times New Roman" panose="02020603050405020304" charset="0"/>
                <a:cs typeface="Times New Roman" panose="02020603050405020304" charset="0"/>
              </a:rPr>
              <a:t>Long-term learning and knowledge reuse are not effectively supported.</a:t>
            </a:r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/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/>
            <a:r>
              <a:rPr lang="en-US" altLang="en-GB" sz="1800" dirty="0">
                <a:latin typeface="Times New Roman" panose="02020603050405020304" charset="0"/>
                <a:cs typeface="Times New Roman" panose="02020603050405020304" charset="0"/>
              </a:rPr>
              <a:t>DevSolver addresses this gap through a centralized knowledge-sharing platform.</a:t>
            </a:r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/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/>
            <a:r>
              <a:rPr lang="en-US" altLang="en-GB" sz="1800" dirty="0">
                <a:latin typeface="Times New Roman" panose="02020603050405020304" charset="0"/>
                <a:cs typeface="Times New Roman" panose="02020603050405020304" charset="0"/>
              </a:rPr>
              <a:t>It enables developers to document and explore real-world solutions.</a:t>
            </a:r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/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/>
            <a:r>
              <a:rPr lang="en-US" altLang="en-GB" sz="1800" dirty="0">
                <a:latin typeface="Times New Roman" panose="02020603050405020304" charset="0"/>
                <a:cs typeface="Times New Roman" panose="02020603050405020304" charset="0"/>
              </a:rPr>
              <a:t>The system follows clean architecture, role-based access, and modern practices.</a:t>
            </a:r>
            <a:endParaRPr lang="en-US" altLang="en-GB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219" name="Slide Number Placeholder 2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B618109-3BF2-48D3-9109-20D64546F788}" type="slidenum">
              <a:rPr lang="en-US" altLang="zh-CN">
                <a:solidFill>
                  <a:srgbClr val="FFFFFF"/>
                </a:solidFill>
                <a:latin typeface="Franklin Gothic Book" panose="020B0503020102020204" pitchFamily="34" charset="0"/>
              </a:rPr>
            </a:fld>
            <a:endParaRPr lang="en-US" altLang="zh-CN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9225" name="Title 1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72400" cy="675640"/>
          </a:xfrm>
        </p:spPr>
        <p:txBody>
          <a:bodyPr anchor="t"/>
          <a:lstStyle/>
          <a:p>
            <a:pPr eaLnBrk="1" hangingPunct="1"/>
            <a:r>
              <a:rPr lang="en-US" altLang="en-US" sz="3600" dirty="0" smtClean="0">
                <a:latin typeface="Times New Roman" panose="02020603050405020304" charset="0"/>
              </a:rPr>
              <a:t>INTRODUCTION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533400" y="381000"/>
            <a:ext cx="8382000" cy="762000"/>
          </a:xfrm>
        </p:spPr>
        <p:txBody>
          <a:bodyPr/>
          <a:lstStyle/>
          <a:p>
            <a:pPr marL="514350" indent="-51435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36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</a:rPr>
              <a:t>EXISTING SYSTEMS/RELATED WORK</a:t>
            </a:r>
            <a:endParaRPr lang="en-US" altLang="en-US" sz="36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</a:endParaRPr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195667A-9660-4FE0-940E-5136AC7496BF}" type="slidenum">
              <a:rPr lang="en-US" altLang="zh-CN">
                <a:solidFill>
                  <a:srgbClr val="FFFFFF"/>
                </a:solidFill>
                <a:latin typeface="Franklin Gothic Book" panose="020B0503020102020204" pitchFamily="34" charset="0"/>
              </a:rPr>
            </a:fld>
            <a:endParaRPr lang="en-US" altLang="zh-CN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04800" y="1371600"/>
            <a:ext cx="8554720" cy="4781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Several platforms currently exist to support developer learning: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Stack Overflow – Focuses on question-answer format but lacks long-term solution context.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Medium / Dev.to – Provides blogs but lacks structured categorization and moderation.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GitHub Issues – Useful for project-specific discussions but not knowledge sharing.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Personal Blogs – Isolated and difficult to discover.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Limitations Identified: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Fragmented information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Poor categorization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Lack of moderation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No unified developer-focused learning environment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457200" y="533400"/>
            <a:ext cx="8077200" cy="685800"/>
          </a:xfrm>
        </p:spPr>
        <p:txBody>
          <a:bodyPr/>
          <a:lstStyle/>
          <a:p>
            <a:pPr marL="514350" indent="-51435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36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</a:rPr>
              <a:t>METHODOLOGY/APPROACH/FLOW</a:t>
            </a:r>
            <a:endParaRPr lang="en-US" altLang="en-US" sz="36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</a:endParaRPr>
          </a:p>
        </p:txBody>
      </p:sp>
      <p:sp>
        <p:nvSpPr>
          <p:cNvPr id="12291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9D68475-F967-429C-AF27-EEBFF996C124}" type="slidenum">
              <a:rPr lang="en-US" altLang="zh-CN">
                <a:solidFill>
                  <a:srgbClr val="FFFFFF"/>
                </a:solidFill>
                <a:latin typeface="Franklin Gothic Book" panose="020B0503020102020204" pitchFamily="34" charset="0"/>
              </a:rPr>
            </a:fld>
            <a:endParaRPr lang="en-US" altLang="zh-CN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37185" y="1664970"/>
            <a:ext cx="8544560" cy="4431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system follows a full-stack, role-based architecture: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User accesses the Home Page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User registers or logs in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Authentication is performed using JWT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Role-based routing is applied: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User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User Dashboard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Admin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Admin Dashboard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Users can create, edit, and manage blogs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Admins can manage users and tags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Community section allows shared learning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frontend is developed using React, while the backend is implemented using Spring Boot REST APIs connected to a relational database.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 sz="3600">
                <a:latin typeface="Times New Roman" panose="02020603050405020304" charset="0"/>
                <a:cs typeface="Times New Roman" panose="02020603050405020304" charset="0"/>
              </a:rPr>
              <a:t>Use Case Diagram</a:t>
            </a:r>
            <a:endParaRPr lang="en-IN" altLang="en-GB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usecase-devsolver"/>
          <p:cNvPicPr>
            <a:picLocks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1143635" y="1417955"/>
            <a:ext cx="685736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7772400" cy="639763"/>
          </a:xfrm>
        </p:spPr>
        <p:txBody>
          <a:bodyPr/>
          <a:lstStyle/>
          <a:p>
            <a:pPr marL="514350" indent="-514350" eaLnBrk="1" hangingPunct="1">
              <a:lnSpc>
                <a:spcPct val="150000"/>
              </a:lnSpc>
            </a:pPr>
            <a:r>
              <a:rPr lang="en-US" altLang="en-US" sz="3600" dirty="0" smtClean="0">
                <a:latin typeface="Times New Roman" panose="02020603050405020304" charset="0"/>
              </a:rPr>
              <a:t>PROPOSED SYSTEM/OBJECTIVES</a:t>
            </a:r>
            <a:endParaRPr lang="en-US" altLang="en-US" sz="3600" dirty="0">
              <a:latin typeface="Times New Roman" panose="02020603050405020304" charset="0"/>
            </a:endParaRP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E96A04-B310-4E4E-BBEF-349589955C02}" type="slidenum">
              <a:rPr lang="en-US" altLang="zh-CN">
                <a:solidFill>
                  <a:srgbClr val="FFFFFF"/>
                </a:solidFill>
                <a:latin typeface="Franklin Gothic Book" panose="020B0503020102020204" pitchFamily="34" charset="0"/>
              </a:rPr>
            </a:fld>
            <a:endParaRPr lang="en-US" altLang="zh-CN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9235" y="1447800"/>
            <a:ext cx="876236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Proposed System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DevSolver provides a centralized, secure, and scalable platform for developer knowledge sharing using curated tags and role-based access.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Objectives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Enable developers to document real-world solutions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Provide structured content through tagging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Ensure secure authentication and authorization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Support community-driven learning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Allow admin-level moderation and control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/>
          <a:lstStyle/>
          <a:p>
            <a:r>
              <a:rPr lang="en-US" altLang="en-US" dirty="0" smtClean="0">
                <a:latin typeface="Times New Roman" panose="02020603050405020304" charset="0"/>
              </a:rPr>
              <a:t>TECHNOLOGY 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11480" y="1447800"/>
            <a:ext cx="4160520" cy="4572000"/>
          </a:xfrm>
        </p:spPr>
        <p:txBody>
          <a:bodyPr/>
          <a:lstStyle/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Frontend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1800">
                <a:latin typeface="Times New Roman" panose="02020603050405020304" charset="0"/>
                <a:cs typeface="Times New Roman" panose="02020603050405020304" charset="0"/>
              </a:rPr>
              <a:t>React (Vite)</a:t>
            </a:r>
            <a:endParaRPr lang="en-IN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1800">
                <a:ln/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Tailwind</a:t>
            </a:r>
            <a:endParaRPr lang="en-IN" altLang="en-US" sz="1800">
              <a:ln/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800">
              <a:ln/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Backend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Java </a:t>
            </a:r>
            <a:r>
              <a:rPr lang="en-IN" altLang="en-US" sz="1800">
                <a:latin typeface="Times New Roman" panose="02020603050405020304" charset="0"/>
                <a:cs typeface="Times New Roman" panose="02020603050405020304" charset="0"/>
              </a:rPr>
              <a:t>25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Spring Boot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Spring Security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JWT Authentication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JPA / Hibernate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Database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MySQL (Docker / Local)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 noChangeArrowheads="1"/>
          </p:cNvSpPr>
          <p:nvPr>
            <p:ph type="title"/>
          </p:nvPr>
        </p:nvSpPr>
        <p:spPr>
          <a:xfrm>
            <a:off x="228600" y="-76200"/>
            <a:ext cx="7772400" cy="1096963"/>
          </a:xfrm>
        </p:spPr>
        <p:txBody>
          <a:bodyPr/>
          <a:lstStyle/>
          <a:p>
            <a:pPr marL="514350" indent="-514350" eaLnBrk="1" hangingPunct="1">
              <a:lnSpc>
                <a:spcPct val="150000"/>
              </a:lnSpc>
            </a:pPr>
            <a:r>
              <a:rPr lang="en-US" altLang="en-US" sz="3600" dirty="0" smtClean="0">
                <a:latin typeface="Times New Roman" panose="02020603050405020304" charset="0"/>
              </a:rPr>
              <a:t>SCREEN SHOTS/RESULTS</a:t>
            </a:r>
            <a:endParaRPr lang="en-US" altLang="en-US" sz="3600" dirty="0" smtClean="0">
              <a:latin typeface="Times New Roman" panose="02020603050405020304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CF40E52-F6AB-4FA9-992F-D48690CA03AA}" type="slidenum">
              <a:rPr lang="en-US" altLang="zh-CN">
                <a:solidFill>
                  <a:srgbClr val="FFFFFF"/>
                </a:solidFill>
                <a:latin typeface="Franklin Gothic Book" panose="020B0503020102020204" pitchFamily="34" charset="0"/>
              </a:rPr>
            </a:fld>
            <a:endParaRPr lang="en-US" altLang="zh-CN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 noChangeArrowheads="1"/>
          </p:cNvSpPr>
          <p:nvPr>
            <p:ph type="title"/>
          </p:nvPr>
        </p:nvSpPr>
        <p:spPr>
          <a:xfrm>
            <a:off x="228600" y="-76200"/>
            <a:ext cx="7772400" cy="838200"/>
          </a:xfrm>
        </p:spPr>
        <p:txBody>
          <a:bodyPr/>
          <a:lstStyle/>
          <a:p>
            <a:pPr marL="514350" indent="-514350" eaLnBrk="1" hangingPunct="1">
              <a:lnSpc>
                <a:spcPct val="150000"/>
              </a:lnSpc>
            </a:pPr>
            <a:r>
              <a:rPr lang="en-US" altLang="en-US" sz="3600" dirty="0" smtClean="0">
                <a:latin typeface="Times New Roman" panose="02020603050405020304" charset="0"/>
              </a:rPr>
              <a:t>CONCLUSION AND FUTURE SCOPE</a:t>
            </a:r>
            <a:endParaRPr lang="en-US" altLang="en-US" sz="3600" dirty="0">
              <a:latin typeface="Times New Roman" panose="02020603050405020304" charset="0"/>
            </a:endParaRP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0ACBC43-8CE1-4AE2-B58D-6CF117FE6764}" type="slidenum">
              <a:rPr lang="en-US" altLang="zh-CN">
                <a:solidFill>
                  <a:srgbClr val="FFFFFF"/>
                </a:solidFill>
                <a:latin typeface="Franklin Gothic Book" panose="020B0503020102020204" pitchFamily="34" charset="0"/>
              </a:rPr>
            </a:fld>
            <a:endParaRPr lang="en-US" altLang="zh-CN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57505" y="943610"/>
            <a:ext cx="849566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Conclusion</a:t>
            </a:r>
            <a:endParaRPr lang="en-IN" altLang="en-US"/>
          </a:p>
          <a:p>
            <a:endParaRPr lang="en-US" altLang="en-GB"/>
          </a:p>
          <a:p>
            <a:r>
              <a:rPr lang="en-US" altLang="en-GB"/>
              <a:t>DevSolver successfully addresses the limitations of existing developer platforms by offering a structured, role-based, and scalable solution for knowledge sharing. The system demonstrates practical application of full-stack development concepts, authentication mechanisms, and clean architecture principles. It serves as a reliable platform for collaborative learning and real-world problem documentation.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Future Scope</a:t>
            </a:r>
            <a:endParaRPr lang="en-US" altLang="en-GB"/>
          </a:p>
          <a:p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Comment and reply system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Likes and bookmarks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Advanced search and filtering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Draft and autosave functionality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Analytics dashboard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Integration with GitHub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Cloud-based production deployment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Mobile application support</a:t>
            </a:r>
            <a:endParaRPr lang="en-US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85800"/>
          </a:xfrm>
        </p:spPr>
        <p:txBody>
          <a:bodyPr/>
          <a:lstStyle/>
          <a:p>
            <a:pPr marL="514350" indent="-514350" eaLnBrk="1" hangingPunct="1">
              <a:lnSpc>
                <a:spcPct val="150000"/>
              </a:lnSpc>
            </a:pPr>
            <a:r>
              <a:rPr lang="en-US" altLang="en-US" sz="3600" dirty="0" smtClean="0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79FDB7D-99D7-4768-9847-BB37300F80C3}" type="slidenum">
              <a:rPr lang="en-US" altLang="zh-CN">
                <a:solidFill>
                  <a:srgbClr val="FFFFFF"/>
                </a:solidFill>
                <a:latin typeface="Franklin Gothic Book" panose="020B0503020102020204" pitchFamily="34" charset="0"/>
              </a:rPr>
            </a:fld>
            <a:endParaRPr lang="en-US" altLang="zh-CN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03250" y="1447800"/>
            <a:ext cx="800798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Spring Boot Docs - </a:t>
            </a:r>
            <a:r>
              <a:rPr lang="en-US" altLang="en-GB"/>
              <a:t>https://spring.io/projects/spring-boot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React Docs - </a:t>
            </a:r>
            <a:r>
              <a:rPr lang="en-US" altLang="en-GB"/>
              <a:t>https://react.dev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Mozilla MDN Docs - </a:t>
            </a:r>
            <a:r>
              <a:rPr lang="en-US" altLang="en-GB"/>
              <a:t>https://developer.mozilla.org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Docker Docs - </a:t>
            </a:r>
            <a:r>
              <a:rPr lang="en-US" altLang="en-GB"/>
              <a:t>https://docs.docker.com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JWT Docs - </a:t>
            </a:r>
            <a:r>
              <a:rPr lang="en-US" altLang="en-GB"/>
              <a:t>https://jwt.io/introduction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StackOverFlow - </a:t>
            </a:r>
            <a:r>
              <a:rPr lang="en-US" altLang="en-GB"/>
              <a:t>https://stackoverflow.com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Equity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3937</Words>
  <Application>WPS Presentation</Application>
  <PresentationFormat>On-screen Show (4:3)</PresentationFormat>
  <Paragraphs>190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Perpetua</vt:lpstr>
      <vt:lpstr>Franklin Gothic Book</vt:lpstr>
      <vt:lpstr>Wingdings 2</vt:lpstr>
      <vt:lpstr>Calibri</vt:lpstr>
      <vt:lpstr>Times</vt:lpstr>
      <vt:lpstr>Times New Roman</vt:lpstr>
      <vt:lpstr>Constantia</vt:lpstr>
      <vt:lpstr>Microsoft YaHei</vt:lpstr>
      <vt:lpstr>Arial Unicode MS</vt:lpstr>
      <vt:lpstr>Arial Rounded MT Bold</vt:lpstr>
      <vt:lpstr>Equity</vt:lpstr>
      <vt:lpstr>“Title of Project ”</vt:lpstr>
      <vt:lpstr>CONTENT</vt:lpstr>
      <vt:lpstr>ABSTRACT</vt:lpstr>
      <vt:lpstr>INTRODUCTION</vt:lpstr>
      <vt:lpstr>PowerPoint 演示文稿</vt:lpstr>
      <vt:lpstr>PowerPoint 演示文稿</vt:lpstr>
      <vt:lpstr>PowerPoint 演示文稿</vt:lpstr>
      <vt:lpstr>PROPOSED SYSTEM/OBJECTIVES</vt:lpstr>
      <vt:lpstr>TECHNOLOGY STACK</vt:lpstr>
      <vt:lpstr>SCREEN SHOTS/RESULTS</vt:lpstr>
      <vt:lpstr>CONCLUSION AND FUTURE SCOPE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on  “Facial Expression Recognition from Audio-Visual Information using Wavelet and Curvelet Transform</dc:title>
  <dc:creator>sony</dc:creator>
  <cp:lastModifiedBy>Brajesh Prajapati</cp:lastModifiedBy>
  <cp:revision>1007</cp:revision>
  <dcterms:created xsi:type="dcterms:W3CDTF">2011-08-19T07:38:00Z</dcterms:created>
  <dcterms:modified xsi:type="dcterms:W3CDTF">2026-02-06T06:29:16Z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2057-12.2.0.23197</vt:lpwstr>
  </property>
  <property fmtid="{D5CDD505-2E9C-101B-9397-08002B2CF9AE}" pid="3" name="ICV">
    <vt:lpwstr>B4ACC8830BD849228CA04D516E110148_13</vt:lpwstr>
  </property>
</Properties>
</file>